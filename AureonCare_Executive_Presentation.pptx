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0" y="9144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/>
            </a:pPr>
            <a:r>
              <a:t>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</a:defRPr>
            </a:pPr>
            <a:r>
              <a:t>AureonCare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BBF24"/>
                </a:solidFill>
              </a:defRPr>
            </a:pPr>
            <a:r>
              <a:t>Executive Presentation - Version 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41148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E293B"/>
                </a:solidFill>
              </a:defRPr>
            </a:pPr>
            <a:r>
              <a:t>Pre-Beta Development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4114800"/>
            <a:ext cx="3657600" cy="457200"/>
          </a:xfrm>
          <a:prstGeom prst="rect">
            <a:avLst/>
          </a:prstGeom>
          <a:solidFill>
            <a:srgbClr val="F59E0B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FFFFFF"/>
                </a:solidFill>
              </a:defRPr>
            </a:pPr>
            <a:r>
              <a:t>Empowering Healthcare with Modern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🎯 Year 1 Targets &amp; Projections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2560320" cy="1645920"/>
          </a:xfrm>
          <a:prstGeom prst="rect">
            <a:avLst/>
          </a:prstGeom>
          <a:solidFill>
            <a:srgbClr val="14B8A6"/>
          </a:solidFill>
          <a:ln w="254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2560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5,000+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Target Users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828800"/>
            <a:ext cx="2560320" cy="1645920"/>
          </a:xfrm>
          <a:prstGeom prst="rect">
            <a:avLst/>
          </a:prstGeom>
          <a:solidFill>
            <a:srgbClr val="14B8A6"/>
          </a:solidFill>
          <a:ln w="254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2103120"/>
            <a:ext cx="2560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926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Target Practices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828800"/>
            <a:ext cx="2560320" cy="1645920"/>
          </a:xfrm>
          <a:prstGeom prst="rect">
            <a:avLst/>
          </a:prstGeom>
          <a:solidFill>
            <a:srgbClr val="14B8A6"/>
          </a:solidFill>
          <a:ln w="254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2103120"/>
            <a:ext cx="2560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2M+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926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Platform Capacity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49040"/>
            <a:ext cx="2560320" cy="1645920"/>
          </a:xfrm>
          <a:prstGeom prst="rect">
            <a:avLst/>
          </a:prstGeom>
          <a:solidFill>
            <a:srgbClr val="14B8A6"/>
          </a:solidFill>
          <a:ln w="254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23360"/>
            <a:ext cx="2560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Core Modules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3749040"/>
            <a:ext cx="2560320" cy="1645920"/>
          </a:xfrm>
          <a:prstGeom prst="rect">
            <a:avLst/>
          </a:prstGeom>
          <a:solidFill>
            <a:srgbClr val="14B8A6"/>
          </a:solidFill>
          <a:ln w="254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0" y="4023360"/>
            <a:ext cx="2560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99.9%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Uptime SLA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749040"/>
            <a:ext cx="2560320" cy="1645920"/>
          </a:xfrm>
          <a:prstGeom prst="rect">
            <a:avLst/>
          </a:prstGeom>
          <a:solidFill>
            <a:srgbClr val="14B8A6"/>
          </a:solidFill>
          <a:ln w="254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4023360"/>
            <a:ext cx="2560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4.5★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Target Satisfaction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🚀 Version 1.2 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🔍 Universal Search - 50-60% projected time savings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📦 Data Archiving - 35-40% DB reduction projected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📋 Audit Logging - Complete HIPAA/SOX compliance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☁️ Cloud Backup - OAuth with Google Drive &amp; OneDrive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📝 SOAP Notes - 20-25% projected denial reduction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🏥 Enhanced Registration - Allergies, PMH, Family History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🔐 Expanded Permissions - Granular RBAC, 14 modules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💡 Help System - AI assistant, 55-60% projected ticket reduction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💰 Projected First-Year ROI: 650-750%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78638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9319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4B8A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Projected Annual Value</a:t>
                      </a:r>
                    </a:p>
                  </a:txBody>
                  <a:tcPr>
                    <a:solidFill>
                      <a:srgbClr val="14B8A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Operational Savings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$450K - $550K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• Time savings (50-60%)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$100K - $120K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• Reduced denials (20-25%)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$160K - $200K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Revenue Improvements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$550K - $665K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• Days in A/R (52→35-38)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$150K - $180K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• Collection rate (92%→96-97%)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$200K - $250K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Total Projected Benefit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$1.0M - $1.2M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Implementation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($150K)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Projected Net ROI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$850K - $1.065M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🔬 Development Status &amp; Readiness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2560320" cy="1645920"/>
          </a:xfrm>
          <a:prstGeom prst="rect">
            <a:avLst/>
          </a:prstGeom>
          <a:solidFill>
            <a:srgbClr val="14B8A6"/>
          </a:solidFill>
          <a:ln w="254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2560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Code Complete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828800"/>
            <a:ext cx="2560320" cy="1645920"/>
          </a:xfrm>
          <a:prstGeom prst="rect">
            <a:avLst/>
          </a:prstGeom>
          <a:solidFill>
            <a:srgbClr val="14B8A6"/>
          </a:solidFill>
          <a:ln w="254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2103120"/>
            <a:ext cx="2560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926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Documentation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828800"/>
            <a:ext cx="2560320" cy="1645920"/>
          </a:xfrm>
          <a:prstGeom prst="rect">
            <a:avLst/>
          </a:prstGeom>
          <a:solidFill>
            <a:srgbClr val="14B8A6"/>
          </a:solidFill>
          <a:ln w="254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2103120"/>
            <a:ext cx="2560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926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Modules Ready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49040"/>
            <a:ext cx="2560320" cy="1645920"/>
          </a:xfrm>
          <a:prstGeom prst="rect">
            <a:avLst/>
          </a:prstGeom>
          <a:solidFill>
            <a:srgbClr val="14B8A6"/>
          </a:solidFill>
          <a:ln w="254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23360"/>
            <a:ext cx="2560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Q1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Beta Launch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3749040"/>
            <a:ext cx="2560320" cy="1645920"/>
          </a:xfrm>
          <a:prstGeom prst="rect">
            <a:avLst/>
          </a:prstGeom>
          <a:solidFill>
            <a:srgbClr val="14B8A6"/>
          </a:solidFill>
          <a:ln w="254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0" y="4023360"/>
            <a:ext cx="2560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10-15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Beta Practices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749040"/>
            <a:ext cx="2560320" cy="1645920"/>
          </a:xfrm>
          <a:prstGeom prst="rect">
            <a:avLst/>
          </a:prstGeom>
          <a:solidFill>
            <a:srgbClr val="14B8A6"/>
          </a:solidFill>
          <a:ln w="254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4023360"/>
            <a:ext cx="2560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Q2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General Launch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💡 Help &amp; Documentation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📚 In-App Help Drawer - Browse, Search, AI Assistant tabs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🤖 AI Assistant - Natural language Q&amp;A, context-aware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📖 12 Comprehensive Guides - Clinical, Billing, Admin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📝 50+ Help Articles - Searchable, categorized, role-based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🌍 Multi-Language - 8 languages supported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Projected Impact: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• 55-60% reduction in support tickets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• 45-50% faster training for new users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5486400"/>
            <a:ext cx="7315200" cy="731520"/>
          </a:xfrm>
          <a:prstGeom prst="rect">
            <a:avLst/>
          </a:prstGeom>
          <a:solidFill>
            <a:srgbClr val="FBBF24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577840"/>
            <a:ext cx="6949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293B"/>
                </a:solidFill>
              </a:defRPr>
            </a:pPr>
            <a:r>
              <a:t>Complete Billing Documentation: Overview • Payers • Reports • Claims • Payments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🔒 Security &amp;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Planned Certifications: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✅ HIPAA Compliant Design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🔄 SOC 2 Type II (Q3 2026)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✅ FDA 21 CFR Part 11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✅ GDPR Ready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✅ 50 State Compliant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Security Features: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• AES-256 Encryption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• Multi-Factor Auth (MFA)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• Role-Based Access (RBAC)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• 24/7 Monitoring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• Quarterly Pen Testing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5486400"/>
            <a:ext cx="7315200" cy="731520"/>
          </a:xfrm>
          <a:prstGeom prst="rect">
            <a:avLst/>
          </a:prstGeom>
          <a:solidFill>
            <a:srgbClr val="FBBF24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577840"/>
            <a:ext cx="6949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293B"/>
                </a:solidFill>
              </a:defRPr>
            </a:pPr>
            <a:r>
              <a:t>60-70% projected reduction in audit prep time with complete audit trail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⚡ Competitive Advantages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78638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1280"/>
                <a:gridCol w="2621280"/>
                <a:gridCol w="2621280"/>
              </a:tblGrid>
              <a:tr h="58782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14B8A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AureonCare</a:t>
                      </a:r>
                    </a:p>
                  </a:txBody>
                  <a:tcPr>
                    <a:solidFill>
                      <a:srgbClr val="14B8A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Typical Competitors</a:t>
                      </a:r>
                    </a:p>
                  </a:txBody>
                  <a:tcPr>
                    <a:solidFill>
                      <a:srgbClr val="14B8A6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Implementation Time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30 days (goal)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90-180 days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Universal Search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14 modules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2-3 modules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AI Help Assistant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✓ Included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✗ Not available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Languages Supported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8 languages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2-3 languages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Technology Stack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Modern (React 18)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Legacy (2010s)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Customer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4.5+/5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3.8/5 typical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🗺️ Development &amp; Launch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Q1 2026 (Jan-Mar) - Beta Phase: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🔬 Complete final development &amp; testing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🎯 Launch closed beta (10-15 practices)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🐛 Bug fixes &amp; optimization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✅ Complete security audits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Q2 2026 (Apr-Jun) - General Launch: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🚀 Official product launch (April 2026)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🎯 Onboard first 50 paying practices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📱 Mobile app (beta) release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🔗 Integration marketplace launch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Q3-Q4 2026 - Growth &amp; Scale: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🎯 Reach 150 practices by year-end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🤖 AI Clinical Assistant launch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💳 Advanced features rollout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💵 Pricing &amp; Early Adopter Benefits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78638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965960"/>
                <a:gridCol w="1965960"/>
                <a:gridCol w="1965960"/>
              </a:tblGrid>
              <a:tr h="10287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Plan</a:t>
                      </a:r>
                    </a:p>
                  </a:txBody>
                  <a:tcPr>
                    <a:solidFill>
                      <a:srgbClr val="14B8A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Monthly/User</a:t>
                      </a:r>
                    </a:p>
                  </a:txBody>
                  <a:tcPr>
                    <a:solidFill>
                      <a:srgbClr val="14B8A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Annual/User</a:t>
                      </a:r>
                    </a:p>
                  </a:txBody>
                  <a:tcPr>
                    <a:solidFill>
                      <a:srgbClr val="14B8A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Target Segment</a:t>
                      </a:r>
                    </a:p>
                  </a:txBody>
                  <a:tcPr>
                    <a:solidFill>
                      <a:srgbClr val="14B8A6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Essential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$99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$950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2-5 users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Professional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$149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$1,425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5-20 users</a:t>
                      </a:r>
                    </a:p>
                  </a:txBody>
                  <a:tcPr/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Enterprise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$199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$1,900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20+ users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📞 Join the Healthcare Revolution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🎁 Early Adopter Program Benefits: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• 20% discount for first 50 practices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• Priority implementation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• Lifetime VIP support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• Influence product roadmap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Contact Us Today: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📧 sales@aureoncare.com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📞 1-800-AUREON1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🌐 https://aureoncare.com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For Healthcare Practices: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Schedule demo • Join beta • Request pricing • Reserve spot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For Investors &amp; Partners: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Investment overview • Financial projections • Partnership opportunities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5486400"/>
            <a:ext cx="7315200" cy="731520"/>
          </a:xfrm>
          <a:prstGeom prst="rect">
            <a:avLst/>
          </a:prstGeom>
          <a:solidFill>
            <a:srgbClr val="FBBF24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577840"/>
            <a:ext cx="6949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293B"/>
                </a:solidFill>
              </a:defRPr>
            </a:pPr>
            <a:r>
              <a:t>Beta: Q1 2026 | Launch: Q2 2026 | Beta &amp; Early Adopter Slots Available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The Future of Healthcare Starts 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2560320" cy="1645920"/>
          </a:xfrm>
          <a:prstGeom prst="rect">
            <a:avLst/>
          </a:prstGeom>
          <a:solidFill>
            <a:srgbClr val="14B8A6"/>
          </a:solidFill>
          <a:ln w="254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2560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650-750%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Projected ROI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828800"/>
            <a:ext cx="2560320" cy="1645920"/>
          </a:xfrm>
          <a:prstGeom prst="rect">
            <a:avLst/>
          </a:prstGeom>
          <a:solidFill>
            <a:srgbClr val="14B8A6"/>
          </a:solidFill>
          <a:ln w="254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2103120"/>
            <a:ext cx="2560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30-Day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926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828800"/>
            <a:ext cx="2560320" cy="1645920"/>
          </a:xfrm>
          <a:prstGeom prst="rect">
            <a:avLst/>
          </a:prstGeom>
          <a:solidFill>
            <a:srgbClr val="14B8A6"/>
          </a:solidFill>
          <a:ln w="254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2103120"/>
            <a:ext cx="2560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926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Integrated Modules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49040"/>
            <a:ext cx="2560320" cy="1645920"/>
          </a:xfrm>
          <a:prstGeom prst="rect">
            <a:avLst/>
          </a:prstGeom>
          <a:solidFill>
            <a:srgbClr val="14B8A6"/>
          </a:solidFill>
          <a:ln w="254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23360"/>
            <a:ext cx="2560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Q1→Q2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Beta→Launch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3749040"/>
            <a:ext cx="2560320" cy="1645920"/>
          </a:xfrm>
          <a:prstGeom prst="rect">
            <a:avLst/>
          </a:prstGeom>
          <a:solidFill>
            <a:srgbClr val="14B8A6"/>
          </a:solidFill>
          <a:ln w="254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0" y="4023360"/>
            <a:ext cx="2560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$850K+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Net Benefit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749040"/>
            <a:ext cx="2560320" cy="1645920"/>
          </a:xfrm>
          <a:prstGeom prst="rect">
            <a:avLst/>
          </a:prstGeom>
          <a:solidFill>
            <a:srgbClr val="14B8A6"/>
          </a:solidFill>
          <a:ln w="254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4023360"/>
            <a:ext cx="2560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20%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Early Adopter Discount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